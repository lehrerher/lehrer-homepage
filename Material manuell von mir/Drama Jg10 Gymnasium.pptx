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Drama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Gattung · Struktur · Analyse · Aufführung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Jahrgangsstufe 10 · Gymnasium · Deutschunterricht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🎭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Drama?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057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64592" cy="2057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„Nachahmung einer edlen und abgeschlossenen Handlung von einer bestimmten Größe in gewählter Rede.“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Aristoteles, Poetik (335 v.Chr.)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(griech.): Handlung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Publikum erlebt die Handlung unmittelbar – kein Erzähler vermittelt das Geschehen.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Gattungsmerkmale: Dialog · szenische Texte · Inszenierung auf der Bühne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 wird durch Konflikt zwischen Figuren bestimmt – Reden und Gegenreden.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Untergattungen des Dramas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Klassische Gattungen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Tragödie / Schauspiel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Untergang der Hauptfigur – Tod oder Scheitern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Unlösbarer Konflikt – ausweglose Situation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Hauptfigur in der Antike immer aus dem Adel (Fallhöhe)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 Mitleid und Furcht erzeugen → Katharsis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Sophokles: König Ödipus · Shakespeare: Hamlet · Schiller: Maria Stuart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Bürgerliches Trauerspiel überwindet Ständeklausel (Aufklärung): Lessing: Emilia Galotti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 Komödie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 in einem lösbaren Konflikt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 wird aufgelöst – heiteres Ende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stereotype Abläufe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Protagonisten: einfache Leute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Lessing: Minna von Barnhelm · Kleist: Der zerbrochene Krug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Tragikomödie: Mischung tragischer und komischer Elemente · Dürrenmatt: Besuch der alten Dame (1956), Die Physiker (1961)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Moderne &amp; jüngere Gattungen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09728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Soziales Drama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Darstellung von Elend und Ausbeutung.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Büchner: Woyzeck (1836)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Hauptmann: Die Weber (1893)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Episches Theater (Brecht)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'Stueck' statt 'Drama' · 4. Wand wird aufgelöst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Verfremdungseffekte: Schauspieler sprechen Publikum an, Lieder unterbrechen Geschehen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Mutter Courage (1941)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109728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Absurdes Theater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logische Handlung · Groteske Komik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Charaktere – eher Marionetten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Beckett: Warten auf Godot (1952)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109728" cy="182880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B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Dokumentartheater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 Aufklärung durch authentische Quellen: Zitate, Dokumente, Interviews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Kipphardt: In der Sache J. R. Oppenheimer (1963)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Aspekte der Dramenstruktur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Handlung im Drama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Handlung</a:t>
            </a:r>
            <a:endParaRPr lang="en-US" sz="160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Aktionen und Dialoge, die der Zuschauer unmittelbar miterlebt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Berichtete Handlung</a:t>
            </a:r>
            <a:endParaRPr lang="en-US" sz="160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Zuschauer erfährt Ereignisse nur durch Berichte von Figuren</a:t>
            </a:r>
            <a:endParaRPr lang="en-US" sz="160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Botenbericht: Eine Figur informiert über Ereignisse abseits der Bühne</a:t>
            </a:r>
            <a:endParaRPr lang="en-US" sz="160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Teichoskopie (Mauerschau): Figur blickt von der Bühne und schildert simultane Ereignisse, die das Publikum nicht sehen kann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Aufbau: Das Dreieck nach Gustav Freytag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3474720" cy="-2286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1828800"/>
            <a:ext cx="4023360" cy="2286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41648"/>
            <a:ext cx="146304" cy="146304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251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312724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337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Erregendes Moment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298448"/>
            <a:ext cx="146304" cy="146304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087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Peripetie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(Höhepunkt)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3127248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337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Retardierendes Moment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4041648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251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Katastrophe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Das Dreieck ist keine Spannungskurve! Es zeigt die Struktur der Handlung, nicht den Spannungsverlauf.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fünf Akte im Überblick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627632" cy="50292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0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Akt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4447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Zeit, Ort, Atmosphäre · Hauptfiguren · Vorgeschichte · Konflikt wird eingeführt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39112" y="1051560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051560"/>
            <a:ext cx="1627632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060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Erregendes Moment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0552" y="1645920"/>
            <a:ext cx="14447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 bricht aus · Figuren geraten in Auseinandersetzungen · Spannung steigt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58184" y="1051560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1051560"/>
            <a:ext cx="162763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1060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Akt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03904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Peripetie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9624" y="1645920"/>
            <a:ext cx="14447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Höhepunkt des Konflikts · Held: Sieg oder Niederlage, Erhöhung oder Absturz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77256" y="1051560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51560"/>
            <a:ext cx="1627632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060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Akt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2976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Retardierendes Moment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68696" y="1645920"/>
            <a:ext cx="14447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mögliche Ausgänge · Auflösung wird verzögert · Spannung steigt weiter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96328" y="1051560"/>
            <a:ext cx="1627632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96328" y="1051560"/>
            <a:ext cx="1627632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10607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Akt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42048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Katastrophe/Lösung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87768" y="1645920"/>
            <a:ext cx="14447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Tragödie: tragisches Ende · Komödie: Auflösung, glückliche Lösung des Konflikts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Spannungsaufbau: Zwei Drama-Typen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Analytisches Drama (Enthüllungsdrama)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Beginn der Bühnenhandlung liegt ein wichtiges Geschehen (oft ein Verbrechen)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Verlauf wird dieses Geschehen enthüllt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 der Vergangenheit auf die Gegenwart der Figuren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Sophokles: König Ödipus (ca. 425 v.Chr.)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Kleist: Der zerbrochene Krug (1808)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Synthetisches Drama (Zieldrama)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Spannung entsteht in der Entwicklung der Handlung auf ein entscheidendes Geschehen hin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Zuschauer wartet auf das unausweichliche Ereignis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Sophokles: Antigone (442 v.Chr.)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Schiller: Kabale und Liebe (1784)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Figuren(konstellation)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09728" cy="1325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Dramenautor konzipierte Bühnenfigur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109728" cy="1325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lat. Maske. Die Liste der Personen steht häufig vor dem Dramentext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06040"/>
            <a:ext cx="109728" cy="132588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5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081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Figur aus Sicht des Schauspielers – dieser schlüpft in eine Rolle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109728" cy="1325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5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Charakter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081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Gesamtheit aller Merkmale, die eine Figur ausmachen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850392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Figurenkonstellation: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Haupt- und Nebenfiguren · Verhältnis zwischen Figuren (gesellschaftliche Position, Beziehungen)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 und Monolog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Dialog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Dramatischer Dialog: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Auseinandersetzung &amp; Konfliktaustragung zwischen Figuren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Zielgerichtet, argumentativ, emotional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Zunehmend beschleunigender Wechsel der Repliken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Konversationsdialog: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Allgemeines Gespräch, sozialer Kontakt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Gesellige Unterhaltung, Aneinander-vorbeireden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16052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💭  Monolog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Affektmonolog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Selbstgespräch einer Figur im Affekt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Entschlussmonolog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Abwägen von Für und Wider mit Entschlussfassung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Reflexionsmonolog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Durchdenken und Kommentieren von Geschehen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Selbstcharakt.-monolog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Selbsterforschung der eigenen Persönlichkeit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Bühneninszenierung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Ausdrucksträger auf der Bühne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38862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9748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Spieler als Ausdrucksträger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Proxemik (Körperposition/-abstand)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Stimme &amp; Sprache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97480" cy="38862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26974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69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Akustische Ausdrucksträger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645920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&amp; Kostüm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Geräusche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2697480" cy="38862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051560"/>
            <a:ext cx="2697480" cy="50292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069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Bühnenspezifische Ausdrucksträger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1645920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Kulisse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Drama ist nicht für den Leser, sondern für den Zuschauer bestimmt → bei der Analyse immer die mögliche Inszenierung mitdenken!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 und Ort im Drama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37160" cy="13716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„Die Tragödie versucht so weit wie möglich, sich in einem einzigen Sonnendurchlauf oder doch nur wenig darüber hinaus zu entwickeln.“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Aristoteles · Drei Einheiten: Zeit, Ort, Handlung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Zeitliche Einheit sollte das Nachverfolgen der Handlung vereinfachen und Unmittelbarkeit stärken.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und Ort werden im Drama selten explizit beschrieben – sie werden durch Bühnenbild, Requisiten und den Dialog wahrnehmbar.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Spätestens bei Lessing (Aufklärung) wird das strenge Einheitsprinzip aufgegeben.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Geschlossenes vs. Offenes Drama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Geschlossenes Drama (klassisch)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 von Zeit, Ort und Handlung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Strenge Fünfakt-Struktur (Freytag'sches Dreieck)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Kausalität: jede Szene folgt logisch auf die vorherige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Sprache: gebundene Rede (Vers, Jambus)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Tragödie der Antike · Klassik · Sturm &amp; Drang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Offenes Drama (modern)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Einheitenregel – freie Struktur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Episodische Szenenfolge möglich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Verfremdungseffekte (Brecht)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Prosa statt Vers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Soziales Drama · Episches Theater · Absurdes Theater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Check-up: Was habe ich gelernt?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Was unterscheidet Tragödie und Komödie?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Erkläre den Begriff Katharsis.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Welche Funktion hat das retardierende Moment?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Was ist der Unterschied zwischen Figur, Person und Rolle?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Was versteht man unter dem Verfremdungseffekt (Brecht)?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Erkläre den Unterschied zwischen analytischem und synthetischem Drama.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Nenne drei akustische Ausdrucksträger auf der Bühne.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5486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🎭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Drama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„Das Theater ist die mächtigste Anstalt der Welt.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Friedrich Schiller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Jahrgangsstufe 10 · Gymnasium  ·  Propädeutische Literaturwissenschaft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Textbeispiel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hoher See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Slawomir Mrozek (UA 1961)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Absurdes Theater · Politische Satire · Jahrgang 10 Gymnasium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Einordnung: Was ist das für ein Stück?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93192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Steckbrief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5727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Slawomir Mrozek (Polen, 1930–2013)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1031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 in Lublin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Gattung: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63347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Absurdes Theater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16382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Akt, gleichbleibende Dekoration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9417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369417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Floß auf hoher See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42245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Dicke, Der Mittlere,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Schmächtige, Briefträger, Lakai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4251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51560"/>
            <a:ext cx="4251960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0515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Merkmale: Absurdes Theater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81728" y="1581912"/>
            <a:ext cx="73152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5819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logische Handlung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188366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Kannibalismus als absurde Grundsituation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1728" y="2359152"/>
            <a:ext cx="73152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3591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Groteske Komik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26609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Demokratische Wahl, wer gegessen wird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3136392"/>
            <a:ext cx="73152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1363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 = Typen, keine Charaktere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4381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Nur Adjektive als Namen: Der Dicke etc.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1728" y="3913632"/>
            <a:ext cx="73152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9136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nachvollziehbaren Dialoge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8032" y="42153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Reden wirken aneinander vorbei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Textauszug (1): Die absurde Ausgangssituation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029200" cy="3886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02920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24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9–10 (Beginn)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habe Hunger.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MITTLERE 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würde gern etwas essen.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SCHMÄCHTIGE 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die Vorräte zu Ende?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Vorräte sind völlig erschöpft. [...]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müssen essen, aber nicht etwas, sondern jemanden.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MITTLERE 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schaut nach rechts, nach links und hinter sich. Ich sehe keinen.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müssen einen von uns essen.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024128"/>
            <a:ext cx="32461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024128"/>
            <a:ext cx="3246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241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87568" y="1463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87568" y="17373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Ort, Figuren und Grundkonflikt (Hunger) werden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Eröffnungsdialog eingerichtet.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2304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Absurde Logik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257860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Kannibalismus wird sachlich als Konsequenz präsentiert – ohne Entsetzen, fast bürokratisch.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7568" y="31455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Figurentypen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87568" y="34198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Namenlose Typen (Dicke, Mittlere, Schmächtige) statt Charaktere: Merkmal des absurden Theaters.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39867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Konversationsd.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7568" y="426110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Dialog klingt höflich und normal – trotz des grotesken Inhalts. Komik entsteht durch den Kontrast.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Textauszug (2): Die demokratische „Wahl“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029200" cy="3886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029200" cy="34747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24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11–12 (Wahlkampf)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Gut, führen wir also freie und allgemeine Wahlen durch!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MITTLERE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schlechte Idee! [...] Wenn es Ihnen recht ist, bilden wir beide eine Wählergemeinschaft, einen Block.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SCHMÄCHTIGE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Parlamentarismus hat sich überlebt.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es bleibt kein anderer Weg. Oder wollen Sie eine Diktatur? Ich würde mich bereit erklären, die Macht zu ergreifen.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SCHMÄCHTIGE   </a:t>
            </a:r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nein! Nieder mit der Tyrannei!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freie Wahlen!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MITTLERE  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024128"/>
            <a:ext cx="32461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024128"/>
            <a:ext cx="3246120" cy="34747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241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87568" y="1463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 Satire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87568" y="1737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Demokratie, Diktatur, Parlamentarismus werden als Methoden verhandelt, um – jemanden zu essen. Politische Systeme werden ad absurdum geführt.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23134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Komisches Muster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25877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Wahlkampf folgt echten Ritualen (Rednerpult, Transparent, Wahlürne) – der Zweck ist jedoch grotesk.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7568" y="3163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Figurenkonstellation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87568" y="343814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Dicke + Mittlere = Koalition gegen Schmächtigen. Machtallianz zeigt Unterdruck auf das Opfer.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40142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7568" y="428853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Hochpolitische Vokabeln („Wählergemeinschaft“, „Parlamentarismus“) in absurdem Kontext – Komik durch Register-Kontrast.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Textauszug (3): Die drei Wahlkampf-Reden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8346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Schmächtige (S. 13–14)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54864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„Ich habe Frau und Kinder. Mehr als einmal saß ich bei Sonnenuntergang im Garten und schaukelte meine Kinder [...]“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88036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154680"/>
            <a:ext cx="26334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 an Mitleid und Gefühl – wird sofort zerpflückt. Schwache Position: versucht sich durch private Argumente zu retten.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24128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24128"/>
            <a:ext cx="2834640" cy="38404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Mittlere (S. 14–15)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481328"/>
            <a:ext cx="54864" cy="128016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48132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„Dagegen ist das Zubereiten leckerer Speisen mein Steckenpferd geworden. Für den guten Koch gibt es nichts Schöneres [...]“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88036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3154680"/>
            <a:ext cx="26334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sich als Koch dar – macht sich durch Kompetenz unentbehrlich. Zynische Strategie: das Opfer kocht sich selbst.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024128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24128"/>
            <a:ext cx="283464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Dicke (S. 15–16)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481328"/>
            <a:ext cx="54864" cy="12801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48132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„Ich bin unverdaulich. Zeitlebens war ich zäh und knochig [...] möglicherweise habe ich Trichinen.“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288036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3154680"/>
            <a:ext cx="263347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 sich durch physische Mängel unappetitlich. Rhetorik des Demagogen: kurz, klar, einschüchternd. Gewinnt klar die Wahl.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Dramenstruktur im Text nachweisen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2336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02336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Figurenkonstellation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1005840" cy="91440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Dicke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(Anführer,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Demagoge)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920240"/>
            <a:ext cx="1005840" cy="914400"/>
          </a:xfrm>
          <a:prstGeom prst="ellipse">
            <a:avLst/>
          </a:prstGeom>
          <a:solidFill>
            <a:srgbClr val="2C7BB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Mittlere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(opportunist.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Verbündeter)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3383280"/>
            <a:ext cx="1005840" cy="914400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33832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Schmächtige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(Opfer)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377440"/>
            <a:ext cx="8229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Koalition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834640"/>
            <a:ext cx="594360" cy="54864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834640"/>
            <a:ext cx="-594360" cy="548640"/>
          </a:xfrm>
          <a:prstGeom prst="line">
            <a:avLst/>
          </a:prstGeom>
          <a:noFill/>
          <a:ln w="25400">
            <a:solidFill>
              <a:srgbClr val="2C7B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Druck auf Opfer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1605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24128"/>
            <a:ext cx="41605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24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Strukturelemente nachweisen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73168" y="154533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5087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1755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Dialog: Floß, Hunger, Erschöpfung der Vorräte (S. 9)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73168" y="209397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0574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23042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wird gegessen? Entscheidung zwischen Los, Wahl, Diktatur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264261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6060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Dramatischer Dialog: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28529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Zielgerichtet, argumentativ – jeder verteidigt seine Haut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3168" y="319125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154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Absurder Monolog: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401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Schmächtige: sentimentale Selbstverteidigung (S. 13–14)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73168" y="373989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7033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Akt / offenes Drama: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950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Akt-Einteilung, kein fixer Ort: offene Dramenform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73168" y="4288536"/>
            <a:ext cx="73152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2519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Sprachliche Mittel: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4988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Register-Kontrast: bürokratische Sprache + grotesker Inhalt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Aufgaben zu „Auf hoher See“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9728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0789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[Verstehen]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32588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Fasse den Inhalt des vorliegenden Textauszugs in eigenen Worten zusammen.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8503920" cy="6858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92808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[Analysieren]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Erkläre, welche Merkmale des absurden Theaters im Text nachweisbar sind. Belege mit konkreten Zitaten.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8503920" cy="6858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88336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2670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[Analysieren]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916936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 die Figurenkonstellation: Welche Machtverhältnisse bestehen zwischen den drei Schiffbrüchigen?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392424"/>
            <a:ext cx="8503920" cy="6858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483864"/>
            <a:ext cx="502920" cy="502920"/>
          </a:xfrm>
          <a:prstGeom prst="ellipse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3465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[Interpretieren]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712464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politischen Systeme werden in der „Wahl“-Szene parodiert? Was kritisiert Mrozek damit?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6858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4279392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4261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[Gestalten]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50799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eine weitere Szene: Die Schiffbrüchigen diskutieren, wie das Ergebnis der Abstimmung umgesetzt werden soll – im Stil Mrozeks.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Drama – Grundlagen</dc:title>
  <dc:subject>PptxGenJS Presentation</dc:subject>
  <dc:creator>Literaturwissenschaft Jg. 10</dc:creator>
  <cp:lastModifiedBy>Literaturwissenschaft Jg. 10</cp:lastModifiedBy>
  <cp:revision>1</cp:revision>
  <dcterms:created xsi:type="dcterms:W3CDTF">2026-05-06T08:11:36Z</dcterms:created>
  <dcterms:modified xsi:type="dcterms:W3CDTF">2026-05-06T08:11:36Z</dcterms:modified>
</cp:coreProperties>
</file>
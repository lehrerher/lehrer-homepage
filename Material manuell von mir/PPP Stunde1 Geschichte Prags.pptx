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8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34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7650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39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857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Geschichte Prags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den Anfängen bis zur Gründung der Tschechoslowakei (1918)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 10 · Gymnasium · OBS Spelle · Vorbereitung Abschlussfahrt Prag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2286000" cy="2286000"/>
          </a:xfrm>
          <a:prstGeom prst="ellipse">
            <a:avLst/>
          </a:prstGeom>
          <a:solidFill>
            <a:srgbClr val="2E5FA3">
              <a:alpha val="25000"/>
            </a:srgbClr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6400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🏰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Diese Stunde – Überblick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erwartet euch heute?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64008" cy="33832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70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Lernziele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" y="1463040"/>
            <a:ext cx="3822192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 auf der Karte einordnen und beschreiben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wichtigsten Epochen der Stadtgeschichte kennen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Historische Orte in Prag mit Epochen verknüpfen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Karte und einen Kurztext quellengestützt auswerten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64008" cy="3383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1704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Stundenverlauf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82896" y="1463040"/>
            <a:ext cx="3822192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Einstieg: Was wisst ihr schon über Prag? (5 Min.)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Lehrervortrag: Geschichte im Überblick (20 Min.)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Arbeitsphase 1: Karte auswerten (10 Min.)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Arbeitsphase 2: Lesetext Karl IV. / 1918 (10 Min.)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Tschechien</a:t>
            </a: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und </a:t>
            </a:r>
            <a:r>
              <a:rPr lang="en-US" sz="2200" b="1" dirty="0" err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Prag</a:t>
            </a:r>
            <a:endParaRPr lang="en-US" sz="22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5D6B546-C40E-E622-2A13-8FF308F0706D}"/>
              </a:ext>
            </a:extLst>
          </p:cNvPr>
          <p:cNvSpPr txBox="1"/>
          <p:nvPr/>
        </p:nvSpPr>
        <p:spPr>
          <a:xfrm>
            <a:off x="2282952" y="1969300"/>
            <a:ext cx="45780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https://www.google.com/maps/@50.517143,13.8096797,7.17z/data=!5m1!1e4?entry=ttu&amp;g_ep=EgoyMDI2MDUwNi4wIKXMDSoASAFQAw%3D%3D</a:t>
            </a:r>
          </a:p>
        </p:txBody>
      </p:sp>
    </p:spTree>
    <p:extLst>
      <p:ext uri="{BB962C8B-B14F-4D97-AF65-F5344CB8AC3E}">
        <p14:creationId xmlns:p14="http://schemas.microsoft.com/office/powerpoint/2010/main" val="4160250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Tschechien</a:t>
            </a: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und </a:t>
            </a:r>
            <a:r>
              <a:rPr lang="en-US" sz="2200" b="1" dirty="0" err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Prag</a:t>
            </a:r>
            <a:endParaRPr lang="en-US" sz="2200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0709E489-E1E0-3879-2CFE-88FAC7E25A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628" y="740664"/>
            <a:ext cx="4199383" cy="4199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rafik 13" descr="undefined">
            <a:extLst>
              <a:ext uri="{FF2B5EF4-FFF2-40B4-BE49-F238E27FC236}">
                <a16:creationId xmlns:a16="http://schemas.microsoft.com/office/drawing/2014/main" id="{DE14E2BB-CE62-A811-BACA-35BBB81A6E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45" y="1706879"/>
            <a:ext cx="4095242" cy="23539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2867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 liegt Prag? – Geografie und Lage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Böhmen im Herzen Europas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3657600"/>
          </a:xfrm>
          <a:prstGeom prst="rect">
            <a:avLst/>
          </a:prstGeom>
          <a:solidFill>
            <a:srgbClr val="D6E4F0"/>
          </a:solidFill>
          <a:ln w="6350">
            <a:solidFill>
              <a:srgbClr val="C0D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</a:t>
            </a: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Hauptstadt Tschechiens, an der Moldau (Vltava)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0136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</a:t>
            </a: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Mitten in Böhmen – geografisches Zentrum Mitteleuropas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45973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🏔️  </a:t>
            </a: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Umgeben von Hügelland; Prag liegt im Moldautal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11810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</a:t>
            </a: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500 km von Berlin, 280 km von Wien, 300 km von München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7764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</a:t>
            </a: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Heute: ~1,4 Mio. Einwohner – größte Stadt Tschechiens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160520" cy="3657600"/>
          </a:xfrm>
          <a:prstGeom prst="rect">
            <a:avLst/>
          </a:prstGeom>
          <a:solidFill>
            <a:srgbClr val="E8F0E0"/>
          </a:solidFill>
          <a:ln w="12700">
            <a:solidFill>
              <a:srgbClr val="AACC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37160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🗺️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663440" y="24688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Karte: Lage Böhmens in Europa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333756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Wichtige Merkmale: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Moldau als Lebensader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Böhmen als Beckenlandschaft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Grenzlage zu HRR, Polen, Österreich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Anfänge: Gründung &amp; Přemysliden (9.–13. Jh.)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 wird zur Hauptstadt eines Königreichs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1828800" cy="2926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778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Gründungsmythos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088136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Gründungslegende: </a:t>
            </a: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Prinzessin Libuše soll Prag gegründet und das Přemyslidengeschlecht begründet haben. Historisch entsteht auf dem Hradschin-Felsen (Prager Burg) im 9. Jahrhundert eine befestigte Siedlung.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53035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965960"/>
            <a:ext cx="64008" cy="29260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2039112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Přemysliden-Könige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" y="2331720"/>
            <a:ext cx="5102352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Böhmen Teil des Heiligen Römischen Reiches (HRR)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 wächst zur Residenzstadt – Burg, Dom, Markt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1212: Goldene Bulle von Sizilien → Böhmen wird Königreich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Aufbau eines zentralisierten Herrschaftssystems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 der Přemysliden 1306 (Aussterben der männlichen Linie)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97880" y="1005840"/>
            <a:ext cx="2926080" cy="1920240"/>
          </a:xfrm>
          <a:prstGeom prst="rect">
            <a:avLst/>
          </a:prstGeom>
          <a:solidFill>
            <a:srgbClr val="C9A84C">
              <a:alpha val="15000"/>
            </a:srgbClr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🏰  Prager Burg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89320" y="1463040"/>
            <a:ext cx="2743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Prager Burg (Hradschin) ist der älteste Teil der Stadt – seit dem 9. Jh. Sitz der Herrscher. Ihr werdet sie auf der </a:t>
            </a:r>
            <a:r>
              <a:rPr lang="en-US" sz="11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Fahrt</a:t>
            </a: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5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bestimmt</a:t>
            </a: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besuchen!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97880" y="3108960"/>
            <a:ext cx="2926080" cy="1783080"/>
          </a:xfrm>
          <a:prstGeom prst="rect">
            <a:avLst/>
          </a:prstGeom>
          <a:solidFill>
            <a:srgbClr val="D6E4F0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📅  Schlüsseldaten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3520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~880  —  Bau der Prager Burg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35040" y="3840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973  —  Bistum Prag gegründet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35040" y="4160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1085  —  Böhmen wird Königreich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35040" y="4480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1212  —  Goldene Bulle von Sizilien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Goldene Prag: Kaiser Karl IV. (1316–1378)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 als Zentrum des Heiligen Römischen Reiches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828800" cy="1828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Karl IV.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Kaiser des HRR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König von Böhmen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1005840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 IV. machte Prag zur bedeutendsten Stadt nördlich der Alpen. Er residierte dauerhaft in Prag und baute es systematisch aus – Prag war nun Hauptstadt des gesamten Heiligen Römischen Reiches.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4114800" cy="123444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21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🎓  Karlsuniversität 1348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Universität in Mitteleuropa – noch heute eine der wichtigsten Prags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2148840"/>
            <a:ext cx="4114800" cy="1234440"/>
          </a:xfrm>
          <a:prstGeom prst="rect">
            <a:avLst/>
          </a:prstGeom>
          <a:solidFill>
            <a:srgbClr val="EAF4E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221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🌉  Karlsbrücke 1357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6060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Steinerne Brücke über die Moldau – ihr werdet sie zu Fuß überqueren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520440"/>
            <a:ext cx="4114800" cy="1234440"/>
          </a:xfrm>
          <a:prstGeom prst="rect">
            <a:avLst/>
          </a:prstGeom>
          <a:solidFill>
            <a:srgbClr val="D6E4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935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⛪  Veitsdom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9776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Gotische Kathedrale auf dem Hradschin – bis heute Wahrzeichen Prags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3520440"/>
            <a:ext cx="4114800" cy="1234440"/>
          </a:xfrm>
          <a:prstGeom prst="rect">
            <a:avLst/>
          </a:prstGeom>
          <a:solidFill>
            <a:srgbClr val="EAF4E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5935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📜  Goldene Bulle 1356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9776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Verfassung des HRR – regelt Königswahl; von Prag aus verkündet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Aufruhr in Böhmen: Jan Hus und die Hussiten (15. Jh.)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Religiöse Reform und Bürgerkrieg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594360"/>
          </a:xfrm>
          <a:prstGeom prst="rect">
            <a:avLst/>
          </a:prstGeom>
          <a:solidFill>
            <a:srgbClr val="FFF3C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Leitfrage: Warum spaltete ein Prager Professor ganz Europa?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411480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783080"/>
            <a:ext cx="64008" cy="315468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85623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 Hus (1369–1415)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" y="2148840"/>
            <a:ext cx="391363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Theologieprofessor an der Karlsuniversität Prag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Kritisiert Korruption und Ablasshandel der Kirche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1415: Verbrennung als Ketzer auf dem Konzil von Konstanz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 zur nationalen Märtyrerfigur der Böhmen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411480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783080"/>
            <a:ext cx="64008" cy="31546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7176" y="185623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Hussitenkriege (1419–1436)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37176" y="2148840"/>
            <a:ext cx="391363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Hussiten erheben sich gegen Kaiser und Kirche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Prager Fenstersturz 1419 (Rathaus Neustädter Markt)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Militärisch erfolgreiche Bewegung – schlagen Kreuzritter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 wird zum Symbol religiöser und nationaler Eigenständigkeit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Kompromiss – hussitische Kirche toleriert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Prag unter den Habsburgern – und der 2. Fenstersturz (1618)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Königreich zur Provinz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69392" y="4293108"/>
            <a:ext cx="8229600" cy="0"/>
          </a:xfrm>
          <a:prstGeom prst="line">
            <a:avLst/>
          </a:prstGeom>
          <a:noFill/>
          <a:ln w="25400">
            <a:solidFill>
              <a:srgbClr val="1A2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53272" y="4229100"/>
            <a:ext cx="109728" cy="12801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9392" y="3973068"/>
            <a:ext cx="0" cy="32004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5384" y="4247388"/>
            <a:ext cx="128016" cy="128016"/>
          </a:xfrm>
          <a:prstGeom prst="ellipse">
            <a:avLst/>
          </a:prstGeom>
          <a:solidFill>
            <a:srgbClr val="C9A84C"/>
          </a:solidFill>
          <a:ln w="635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3840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-91440" y="3584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Habsburger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übernehmen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Böhmen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81072" y="4293108"/>
            <a:ext cx="0" cy="32004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17064" y="4247388"/>
            <a:ext cx="128016" cy="128016"/>
          </a:xfrm>
          <a:prstGeom prst="ellipse">
            <a:avLst/>
          </a:prstGeom>
          <a:solidFill>
            <a:srgbClr val="C9A84C"/>
          </a:solidFill>
          <a:ln w="6350">
            <a:solidFill>
              <a:srgbClr val="1A2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3872" y="46314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32432" y="48691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Kaiser Rudolf II.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92752" y="3973068"/>
            <a:ext cx="0" cy="32004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28744" y="4247388"/>
            <a:ext cx="128016" cy="128016"/>
          </a:xfrm>
          <a:prstGeom prst="ellipse">
            <a:avLst/>
          </a:prstGeom>
          <a:solidFill>
            <a:srgbClr val="C9A84C"/>
          </a:solidFill>
          <a:ln w="6350">
            <a:solidFill>
              <a:srgbClr val="1A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35552" y="36987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44112" y="34427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Prager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Fenstersturz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04432" y="4293108"/>
            <a:ext cx="0" cy="32004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0424" y="4247388"/>
            <a:ext cx="128016" cy="128016"/>
          </a:xfrm>
          <a:prstGeom prst="ellipse">
            <a:avLst/>
          </a:prstGeom>
          <a:solidFill>
            <a:srgbClr val="C9A84C"/>
          </a:solidFill>
          <a:ln w="6350">
            <a:solidFill>
              <a:srgbClr val="1A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47232" y="46314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55792" y="48691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Schlacht am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Weißen Berg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516112" y="3973068"/>
            <a:ext cx="0" cy="32004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2104" y="4247388"/>
            <a:ext cx="128016" cy="128016"/>
          </a:xfrm>
          <a:prstGeom prst="ellipse">
            <a:avLst/>
          </a:prstGeom>
          <a:solidFill>
            <a:srgbClr val="C9A84C"/>
          </a:solidFill>
          <a:ln w="6350">
            <a:solidFill>
              <a:srgbClr val="1A2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58912" y="36987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55280" y="3584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Westfälischer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1051560"/>
            <a:ext cx="3916680" cy="2322576"/>
          </a:xfrm>
          <a:prstGeom prst="rect">
            <a:avLst/>
          </a:prstGeom>
          <a:solidFill>
            <a:srgbClr val="D6E4F0"/>
          </a:solidFill>
          <a:ln w="6350">
            <a:solidFill>
              <a:srgbClr val="AABB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1097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🏛️  Habsburger Herrschaft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1508760"/>
            <a:ext cx="38404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1526 regieren die Habsburger Böhmen – zunächst mit weitgehender Autonomie für den böhmischen Adel. Kaiser Rudolf II. verlegt sogar kurz die Kaiserresidenz nach Prag (1583–1611). Prag erlebt eine kulturelle Blüte: Astronomen wie Brahe und Kepler arbeiten hier.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93920" y="1042416"/>
            <a:ext cx="3992880" cy="2322576"/>
          </a:xfrm>
          <a:prstGeom prst="rect">
            <a:avLst/>
          </a:prstGeom>
          <a:solidFill>
            <a:srgbClr val="FDECEA"/>
          </a:solidFill>
          <a:ln w="6350">
            <a:solidFill>
              <a:srgbClr val="E8BB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097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💥  Der 2. Prager Fenstersturz 1618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54880" y="1158240"/>
            <a:ext cx="38404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Protestantischer böhmischer Adel wirft kaiserliche Beamte aus dem Fenster der Prager Burg – symbolischer Auftakt zum Dreißigjährigen Krieg (1618–1648).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1620: Böhmen verliert die Schlacht am Weißen Berg – Ende der protestantischen Freiheiten, Rekatholisierung, der böhmische Adel wird enteignet.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 verliert seine Bedeutung als Kaiserresidenz – wird zur Provinzhauptstadt.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Nationales Erwachen: Böhmen im 18. und 19. Jahrhundert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 Habsburger Verwaltung und tschechischem Nationalismus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dem Dreißigjährigen Krieg ist Böhmen fest in habsburgischer Hand. Im 18. und 19. Jahrhundert erwacht jedoch ein starkes tschechisches Nationalbewusstsein.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1188720" cy="9601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45920"/>
            <a:ext cx="1188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Jh.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00200" y="1645920"/>
            <a:ext cx="7223760" cy="96012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700784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Josephinische Reformen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2011680"/>
            <a:ext cx="6949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Kaiser Joseph II. modernisiert das Reich: Abschaffung der Leibeigenschaft, Toleranzpatent für Protestanten. Deutsch wird Amtssprache – Reaktion: tschechische Kultureliten kämpfen für ihre Sprache.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743200"/>
            <a:ext cx="1188720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743200"/>
            <a:ext cx="1188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00200" y="2743200"/>
            <a:ext cx="7223760" cy="960120"/>
          </a:xfrm>
          <a:prstGeom prst="rect">
            <a:avLst/>
          </a:prstGeom>
          <a:solidFill>
            <a:srgbClr val="D6E4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2798064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Revolution in Prag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37360" y="3108960"/>
            <a:ext cx="6949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Revolutionsjahr 1848 findet in Prag der erste Slawische Kongress statt. Tschechen fordern Autonomie innerhalb der Habsburger Monarchie. Der Aufstand wird niedergeschlagen.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840480"/>
            <a:ext cx="118872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840480"/>
            <a:ext cx="1188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1880er–1900er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00200" y="3840480"/>
            <a:ext cx="7223760" cy="96012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3895344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Nationale Bewegung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37360" y="4206240"/>
            <a:ext cx="6949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Tschechisch wird Amtssprache gleichberechtigt neben Deutsch. Das Nationalmuseum am Wenzelsplatz entsteht als nationales Symbol. Prag wächst zur modernen Großstadt.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Ende der Habsburger Monarchie: Die Tschechoslowakei 1918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 Oktober 1918 – ein neuer Staat entsteht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926080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 Oktober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Ausrufung der Tschechoslowakei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29000" y="10058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Erste Weltkrieg beendet die Habsburger Monarchie. Auf den Trümmern entsteht die Tschechoslowakische Republik (ČSR) – ein demokratischer Nationalstaat, in dem Prag als Hauptstadt zur modernen Metropole aufsteigt.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514600"/>
            <a:ext cx="8503920" cy="777240"/>
          </a:xfrm>
          <a:prstGeom prst="rect">
            <a:avLst/>
          </a:prstGeom>
          <a:solidFill>
            <a:srgbClr val="D6E4F0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👤  Tomáš G. Masaryk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Staatspräsident – Philosopher und Demokrat, Gründervater der ČSR. Heute in ganz Tschechien verehrt.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383280"/>
            <a:ext cx="8503920" cy="777240"/>
          </a:xfrm>
          <a:prstGeom prst="rect">
            <a:avLst/>
          </a:prstGeom>
          <a:solidFill>
            <a:srgbClr val="F4F4F4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🌍  Minderheitenproblem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3703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neue Republik umfasst Tschechen, Slowaken, Deutsche (Sudetendeutsche), Ungarn und andere Gruppen – ein Konfliktpotenzial, das die 1930er Jahre bestimmt.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4251960"/>
            <a:ext cx="8503920" cy="777240"/>
          </a:xfrm>
          <a:prstGeom prst="rect">
            <a:avLst/>
          </a:prstGeom>
          <a:solidFill>
            <a:srgbClr val="D6E4F0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🏛️  Demokratie-Insel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45720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ČSR ist die einzige stabile Demokratie in Ostmitteleuropa der Zwischenkriegszeit – wirtschaftlich stark, kulturell lebendig.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Prag auf einem Blick – Zeitstrahl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417320" cy="3566160"/>
          </a:xfrm>
          <a:prstGeom prst="rect">
            <a:avLst/>
          </a:prstGeom>
          <a:solidFill>
            <a:srgbClr val="2C4A7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8755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Přemysliden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9.–13. Jh.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1554480"/>
            <a:ext cx="1325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~880 Prager Burg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973 Bistum Prag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1085 Königreich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1212 Gold. Bulle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74520" y="914400"/>
            <a:ext cx="1417320" cy="3566160"/>
          </a:xfrm>
          <a:prstGeom prst="rect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98755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Luxemburger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 Jh.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20240" y="1554480"/>
            <a:ext cx="1325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1316 Karl IV.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1344 Erzbistum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1348 Universität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1357 Karlsbrücke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1356 Gold. Bulle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914400"/>
            <a:ext cx="1417320" cy="3566160"/>
          </a:xfrm>
          <a:prstGeom prst="rect">
            <a:avLst/>
          </a:prstGeom>
          <a:solidFill>
            <a:srgbClr val="7B3F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98755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Hussiten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 Jh.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29000" y="1554480"/>
            <a:ext cx="1325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1415 Hus verbrannt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1419 1. Fenstersturz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1419–36 Kriege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Kompromiss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92040" y="914400"/>
            <a:ext cx="1417320" cy="3566160"/>
          </a:xfrm>
          <a:prstGeom prst="rect">
            <a:avLst/>
          </a:prstGeom>
          <a:solidFill>
            <a:srgbClr val="4A1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98755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Habsburg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16.–17. Jh.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1325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1526 Habsburger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1583 Rudolf II.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1618 2. Fenstersturz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1620 Weiß. Berg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914400"/>
            <a:ext cx="1417320" cy="3566160"/>
          </a:xfrm>
          <a:prstGeom prst="rect">
            <a:avLst/>
          </a:prstGeom>
          <a:solidFill>
            <a:srgbClr val="1A4A2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98755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Erwachen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18.–19. Jh.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46520" y="1554480"/>
            <a:ext cx="1325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1848 Revolution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Sprachgesetze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Nationalmuseum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818120" y="914400"/>
            <a:ext cx="1170432" cy="3566160"/>
          </a:xfrm>
          <a:prstGeom prst="rect">
            <a:avLst/>
          </a:prstGeom>
          <a:solidFill>
            <a:srgbClr val="7B1F1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98755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ČSR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1918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63840" y="1554480"/>
            <a:ext cx="108508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28.10.1918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Masaryk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Demokratie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Arbeitsphase – Eure Aufgaben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Bearbeitet die Arbeitsblätter in Einzelarbeit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3794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5FA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🗺️  AB 1: Karte auswerten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1: Ordne Böhmen in die europäische Karte ein</a:t>
            </a:r>
            <a:endParaRPr lang="en-US" sz="12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2: Beschreibe die geografische Lage Prags</a:t>
            </a:r>
            <a:endParaRPr lang="en-US" sz="12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3: Erkläre, warum die Lage strategisch wichtig war</a:t>
            </a:r>
            <a:endParaRPr lang="en-US" sz="12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4: Verknüpfe Karteninfos mit dem Vortrag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ca. 10 Minuten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3794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078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📜  AB 2: Lesetext analysieren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1: Lies den Text zu Karl IV. / 1918 aufmerksam</a:t>
            </a:r>
            <a:endParaRPr lang="en-US" sz="12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2: Beantworte die Leitfragen zum Text</a:t>
            </a:r>
            <a:endParaRPr lang="en-US" sz="12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3: Unterscheide: Quelle oder Darstellung?</a:t>
            </a:r>
            <a:endParaRPr lang="en-US" sz="12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4: Formuliere: Was bedeutet das für Prag heute?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4297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ca. 10 Minuten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bleibt – und was kommt?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0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 ist seit über 1.000 Jahren ein politisches und kulturelles Zentrum Mitteleuropas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0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 IV. und die Karlsuniversität (1348), die Karlsbrücke, der Veitsdom – ihr werdet sie alle sehen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0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Böhmen war immer ein Schnittpunkt: deutsch, tschechisch, jüdisch, habsburgisch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0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1918: Die ČSR – die demokratischste und stabilste Republik Ostmitteleuropas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solidFill>
            <a:srgbClr val="2E5FA3">
              <a:alpha val="4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9300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🔭  Nächste Stunde: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858768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Tschechoslowakei zwischen den Weltkriegen (1918–1938) – Demokratie, Masaryk und das Minderheitenproblem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1327</Words>
  <Application>Microsoft Office PowerPoint</Application>
  <PresentationFormat>Bildschirmpräsentation (16:9)</PresentationFormat>
  <Paragraphs>199</Paragraphs>
  <Slides>14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Geschichte Prags – von der Antike bis 1918</dc:title>
  <dc:subject>PptxGenJS Presentation</dc:subject>
  <dc:creator>Geschichtsunterricht Klasse 10</dc:creator>
  <cp:lastModifiedBy>Jan Herrmann</cp:lastModifiedBy>
  <cp:revision>2</cp:revision>
  <dcterms:created xsi:type="dcterms:W3CDTF">2026-05-10T21:50:24Z</dcterms:created>
  <dcterms:modified xsi:type="dcterms:W3CDTF">2026-05-11T07:53:53Z</dcterms:modified>
</cp:coreProperties>
</file>